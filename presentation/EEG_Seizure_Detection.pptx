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754880" cy="4754880"/>
          </a:xfrm>
          <a:prstGeom prst="ellipse">
            <a:avLst/>
          </a:prstGeom>
          <a:solidFill>
            <a:srgbClr val="13406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solidFill>
            <a:srgbClr val="13406B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77240"/>
            <a:ext cx="566928" cy="566928"/>
          </a:xfrm>
          <a:prstGeom prst="ellipse">
            <a:avLst/>
          </a:prstGeom>
          <a:solidFill>
            <a:srgbClr val="13406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924641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E1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DATA SCIENCE PROJECT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377440"/>
            <a:ext cx="9692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Epileptic Seizure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from EEG Signals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48640" y="434340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brainwave signals into an automated, clinically-aware seizure detection pipeline — from signal to insight.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5806440"/>
            <a:ext cx="1005840" cy="0"/>
          </a:xfrm>
          <a:prstGeom prst="line">
            <a:avLst/>
          </a:prstGeom>
          <a:noFill/>
          <a:ln w="25400">
            <a:solidFill>
              <a:srgbClr val="27E1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Pasumarthi Abhigna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627278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• Machine Learning • Signal Processing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F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seizure detection needs to be automated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EEG monitoring produces far more data than any clinician can watch live — and the moments that matter most are brief, subtle, and easy to miss.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F3F6FA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770632"/>
            <a:ext cx="512064" cy="512064"/>
          </a:xfrm>
          <a:prstGeom prst="ellipse">
            <a:avLst/>
          </a:prstGeom>
          <a:solidFill>
            <a:srgbClr val="F3F6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097" y="2903769"/>
            <a:ext cx="245791" cy="2457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17904" y="2724912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vs. attention span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517904" y="3017520"/>
            <a:ext cx="3877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24+ hour continuous EEG recordings can't realistically be watched live by a human for the full duration.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26480" y="251460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F3F6FA"/>
          </a:solidFill>
          <a:ln/>
        </p:spPr>
      </p:sp>
      <p:sp>
        <p:nvSpPr>
          <p:cNvPr id="11" name="Shape 8"/>
          <p:cNvSpPr/>
          <p:nvPr/>
        </p:nvSpPr>
        <p:spPr>
          <a:xfrm>
            <a:off x="6400800" y="2770632"/>
            <a:ext cx="512064" cy="512064"/>
          </a:xfrm>
          <a:prstGeom prst="ellipse">
            <a:avLst/>
          </a:prstGeom>
          <a:solidFill>
            <a:srgbClr val="F3F6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3937" y="2903769"/>
            <a:ext cx="245791" cy="2457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95744" y="2724912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Subtlety &amp; disagreement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095744" y="3017520"/>
            <a:ext cx="3877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seizure is visually obvious — neurologists themselves disagree on borderline cases.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420624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F3F6FA"/>
          </a:solidFill>
          <a:ln/>
        </p:spPr>
      </p:sp>
      <p:sp>
        <p:nvSpPr>
          <p:cNvPr id="16" name="Shape 12"/>
          <p:cNvSpPr/>
          <p:nvPr/>
        </p:nvSpPr>
        <p:spPr>
          <a:xfrm>
            <a:off x="822960" y="4462272"/>
            <a:ext cx="512064" cy="512064"/>
          </a:xfrm>
          <a:prstGeom prst="ellipse">
            <a:avLst/>
          </a:prstGeom>
          <a:solidFill>
            <a:srgbClr val="F3F6F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097" y="4595409"/>
            <a:ext cx="245791" cy="24579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17904" y="4416552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Recorded, not watched live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517904" y="4709160"/>
            <a:ext cx="3877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EEG is captured for later review rather than monitored in real time, delaying alerts.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126480" y="420624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F3F6FA"/>
          </a:solidFill>
          <a:ln/>
        </p:spPr>
      </p:sp>
      <p:sp>
        <p:nvSpPr>
          <p:cNvPr id="21" name="Shape 16"/>
          <p:cNvSpPr/>
          <p:nvPr/>
        </p:nvSpPr>
        <p:spPr>
          <a:xfrm>
            <a:off x="6400800" y="4462272"/>
            <a:ext cx="512064" cy="512064"/>
          </a:xfrm>
          <a:prstGeom prst="ellipse">
            <a:avLst/>
          </a:prstGeom>
          <a:solidFill>
            <a:srgbClr val="F3F6F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3937" y="4595409"/>
            <a:ext cx="245791" cy="24579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95744" y="4416552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one's watching at all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095744" y="4709160"/>
            <a:ext cx="3877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wearable / outpatient settings, there is no clinician observing the signal — automation is the only option.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F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sets out to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12064" cy="512064"/>
          </a:xfrm>
          <a:prstGeom prst="ellipse">
            <a:avLst/>
          </a:prstGeom>
          <a:solidFill>
            <a:srgbClr val="13406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777" y="2099097"/>
            <a:ext cx="245791" cy="2457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43584" y="1920240"/>
            <a:ext cx="9912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real signal features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43584" y="2212848"/>
            <a:ext cx="9912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raw 178-point EEG windows into meaningful time-domain and frequency-domain features.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3017520"/>
            <a:ext cx="512064" cy="512064"/>
          </a:xfrm>
          <a:prstGeom prst="ellipse">
            <a:avLst/>
          </a:prstGeom>
          <a:solidFill>
            <a:srgbClr val="13406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777" y="3150657"/>
            <a:ext cx="245791" cy="24579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43584" y="2971800"/>
            <a:ext cx="9912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modelling paths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243584" y="3264408"/>
            <a:ext cx="9912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on engineered features vs. deep learning directly on the raw signal.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4069080"/>
            <a:ext cx="512064" cy="512064"/>
          </a:xfrm>
          <a:prstGeom prst="ellipse">
            <a:avLst/>
          </a:prstGeom>
          <a:solidFill>
            <a:srgbClr val="13406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777" y="4202217"/>
            <a:ext cx="245791" cy="24579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43584" y="4023360"/>
            <a:ext cx="9912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for the right metric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243584" y="4315968"/>
            <a:ext cx="9912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recall / sensitivity — missing a real seizure is costlier than a false alarm.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5120640"/>
            <a:ext cx="512064" cy="512064"/>
          </a:xfrm>
          <a:prstGeom prst="ellipse">
            <a:avLst/>
          </a:prstGeom>
          <a:solidFill>
            <a:srgbClr val="13406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777" y="5253777"/>
            <a:ext cx="245791" cy="24579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43584" y="5074920"/>
            <a:ext cx="9912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predictions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243584" y="5367528"/>
            <a:ext cx="9912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signal characteristics — amplitude, frequency bands — actually drive detection.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F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EEG recordings, not summarized tables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from the widely-used Bonn University EEG benchmark — raw brain electrical activity captured across five recording conditions.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3F6F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5146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8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11,500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2644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samples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233172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3F6FA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25146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8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178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291840" y="32644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signal points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1-sec window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233172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3F6FA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0" y="25146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8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035040" y="32644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778240" y="233172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3F6FA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0" y="25146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8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2,300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8778240" y="32644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per class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(perfectly balanced)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4348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recording conditions: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seizure activity, tumor-region tissue, the healthy hemisphere opposite a tumor, eyes-closed rest, and eyes-open rest — collapsible into a binary seizure / non-seizure task, or kept as 5-class.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F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raw signal, not pre-summarized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607040" cy="1188720"/>
          </a:xfrm>
          <a:prstGeom prst="roundRect">
            <a:avLst>
              <a:gd name="adj" fmla="val 7692"/>
            </a:avLst>
          </a:prstGeom>
          <a:solidFill>
            <a:srgbClr val="F3F6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03120"/>
            <a:ext cx="512064" cy="512064"/>
          </a:xfrm>
          <a:prstGeom prst="ellipse">
            <a:avLst/>
          </a:prstGeom>
          <a:solidFill>
            <a:srgbClr val="F3F6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097" y="2236257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17904" y="2057400"/>
            <a:ext cx="9363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genuine feature engineering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17904" y="2350008"/>
            <a:ext cx="9363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time-series signal, not ready-made tabular columns — real signal-processing work rather than plugging numbers into a model.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246120"/>
            <a:ext cx="10607040" cy="1188720"/>
          </a:xfrm>
          <a:prstGeom prst="roundRect">
            <a:avLst>
              <a:gd name="adj" fmla="val 7692"/>
            </a:avLst>
          </a:prstGeom>
          <a:solidFill>
            <a:srgbClr val="F3F6FA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" y="3520440"/>
            <a:ext cx="512064" cy="512064"/>
          </a:xfrm>
          <a:prstGeom prst="ellipse">
            <a:avLst/>
          </a:prstGeom>
          <a:solidFill>
            <a:srgbClr val="F3F6F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097" y="3653577"/>
            <a:ext cx="245791" cy="2457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17904" y="3474720"/>
            <a:ext cx="9363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Openly accessible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517904" y="3767328"/>
            <a:ext cx="9363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credentialing barrier, well documented, and widely used — straightforward to build and validate against.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663440"/>
            <a:ext cx="10607040" cy="1188720"/>
          </a:xfrm>
          <a:prstGeom prst="roundRect">
            <a:avLst>
              <a:gd name="adj" fmla="val 7692"/>
            </a:avLst>
          </a:prstGeom>
          <a:solidFill>
            <a:srgbClr val="F3F6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937760"/>
            <a:ext cx="512064" cy="512064"/>
          </a:xfrm>
          <a:prstGeom prst="ellipse">
            <a:avLst/>
          </a:prstGeom>
          <a:solidFill>
            <a:srgbClr val="F3F6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097" y="5070897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17904" y="4892040"/>
            <a:ext cx="9363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comparability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517904" y="5184648"/>
            <a:ext cx="9363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established base of published results on this exact benchmark makes it possible to sanity-check this project's own numbers.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F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RESEARCH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project fits in current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029968" cy="3246120"/>
          </a:xfrm>
          <a:prstGeom prst="roundRect">
            <a:avLst>
              <a:gd name="adj" fmla="val 4505"/>
            </a:avLst>
          </a:prstGeom>
          <a:solidFill>
            <a:srgbClr val="F3F6FA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" y="219456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458" y="2303922"/>
            <a:ext cx="201900" cy="201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743200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Andrzejak et al., 2001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9808" y="3337560"/>
            <a:ext cx="16276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the original 5 recording states this dataset still uses today.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715768" y="1965960"/>
            <a:ext cx="2029968" cy="3246120"/>
          </a:xfrm>
          <a:prstGeom prst="roundRect">
            <a:avLst>
              <a:gd name="adj" fmla="val 4505"/>
            </a:avLst>
          </a:prstGeom>
          <a:solidFill>
            <a:srgbClr val="F3F6FA"/>
          </a:solidFill>
          <a:ln/>
        </p:spPr>
      </p:sp>
      <p:sp>
        <p:nvSpPr>
          <p:cNvPr id="10" name="Shape 7"/>
          <p:cNvSpPr/>
          <p:nvPr/>
        </p:nvSpPr>
        <p:spPr>
          <a:xfrm>
            <a:off x="2935224" y="219456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586" y="2303922"/>
            <a:ext cx="201900" cy="201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16936" y="2743200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Kashefi Amiri et al., 2025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916936" y="3337560"/>
            <a:ext cx="16276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DWT + 1D CNN-LSTM reached 97.24% on this exact benchmark — a target to compare against.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882896" y="1965960"/>
            <a:ext cx="2029968" cy="3246120"/>
          </a:xfrm>
          <a:prstGeom prst="roundRect">
            <a:avLst>
              <a:gd name="adj" fmla="val 4505"/>
            </a:avLst>
          </a:prstGeom>
          <a:solidFill>
            <a:srgbClr val="F3F6FA"/>
          </a:solidFill>
          <a:ln/>
        </p:spPr>
      </p:sp>
      <p:sp>
        <p:nvSpPr>
          <p:cNvPr id="15" name="Shape 11"/>
          <p:cNvSpPr/>
          <p:nvPr/>
        </p:nvSpPr>
        <p:spPr>
          <a:xfrm>
            <a:off x="5102352" y="219456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1714" y="2303922"/>
            <a:ext cx="201900" cy="201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84064" y="2743200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 et al., 2025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084064" y="3337560"/>
            <a:ext cx="16276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(SVM-RFE) + CNN-BiLSTM — close match to this project's hybrid approach.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050024" y="1965960"/>
            <a:ext cx="2029968" cy="3246120"/>
          </a:xfrm>
          <a:prstGeom prst="roundRect">
            <a:avLst>
              <a:gd name="adj" fmla="val 4505"/>
            </a:avLst>
          </a:prstGeom>
          <a:solidFill>
            <a:srgbClr val="F3F6FA"/>
          </a:solidFill>
          <a:ln/>
        </p:spPr>
      </p:sp>
      <p:sp>
        <p:nvSpPr>
          <p:cNvPr id="20" name="Shape 15"/>
          <p:cNvSpPr/>
          <p:nvPr/>
        </p:nvSpPr>
        <p:spPr>
          <a:xfrm>
            <a:off x="7269480" y="219456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8842" y="2303922"/>
            <a:ext cx="201900" cy="201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51192" y="2743200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Moutonnet et al., 2024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251192" y="3337560"/>
            <a:ext cx="16276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Warns that benchmark accuracy rarely translates to real clinical deployment.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217152" y="1965960"/>
            <a:ext cx="2029968" cy="3246120"/>
          </a:xfrm>
          <a:prstGeom prst="roundRect">
            <a:avLst>
              <a:gd name="adj" fmla="val 4505"/>
            </a:avLst>
          </a:prstGeom>
          <a:solidFill>
            <a:srgbClr val="F3F6FA"/>
          </a:solidFill>
          <a:ln/>
        </p:spPr>
      </p:sp>
      <p:sp>
        <p:nvSpPr>
          <p:cNvPr id="25" name="Shape 19"/>
          <p:cNvSpPr/>
          <p:nvPr/>
        </p:nvSpPr>
        <p:spPr>
          <a:xfrm>
            <a:off x="9436608" y="219456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5970" y="2303922"/>
            <a:ext cx="201900" cy="2019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418320" y="2743200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Aziz et al., 2025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9418320" y="3337560"/>
            <a:ext cx="16276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67 wearable-AI epilepsy studies — detection at the edge is a fast-growing need.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F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178 raw points to 21 engineered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00400" cy="1554480"/>
          </a:xfrm>
          <a:prstGeom prst="roundRect">
            <a:avLst>
              <a:gd name="adj" fmla="val 5882"/>
            </a:avLst>
          </a:prstGeom>
          <a:solidFill>
            <a:srgbClr val="13406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218815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51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EEG signal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9443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 amplitude readings per 1-second window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749040" y="2331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7E1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4389120" y="1828800"/>
            <a:ext cx="3200400" cy="1554480"/>
          </a:xfrm>
          <a:prstGeom prst="roundRect">
            <a:avLst>
              <a:gd name="adj" fmla="val 5882"/>
            </a:avLst>
          </a:prstGeom>
          <a:solidFill>
            <a:srgbClr val="13406B"/>
          </a:solidFill>
          <a:ln/>
        </p:spPr>
      </p:sp>
      <p:sp>
        <p:nvSpPr>
          <p:cNvPr id="11" name="Shape 8"/>
          <p:cNvSpPr/>
          <p:nvPr/>
        </p:nvSpPr>
        <p:spPr>
          <a:xfrm>
            <a:off x="4617720" y="205740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479" y="218815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2651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extraction script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617720" y="29443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+ frequency domain feature computation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7589520" y="2331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7E1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8229600" y="1828800"/>
            <a:ext cx="3200400" cy="1554480"/>
          </a:xfrm>
          <a:prstGeom prst="roundRect">
            <a:avLst>
              <a:gd name="adj" fmla="val 5882"/>
            </a:avLst>
          </a:prstGeom>
          <a:solidFill>
            <a:srgbClr val="13406B"/>
          </a:solidFill>
          <a:ln/>
        </p:spPr>
      </p:sp>
      <p:sp>
        <p:nvSpPr>
          <p:cNvPr id="17" name="Shape 13"/>
          <p:cNvSpPr/>
          <p:nvPr/>
        </p:nvSpPr>
        <p:spPr>
          <a:xfrm>
            <a:off x="8458200" y="205740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8959" y="2188159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58200" y="2651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21-feature dataset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458200" y="29443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classical ML &amp; feature selection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548640" y="37947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E1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Time-domain features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48640" y="416052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· std dev · variance · skewness · kurtosis · peak-to-peak · zero-crossing rate · RMS · mean absolute diff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5943600" y="37947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E1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Frequency-domain features (via FFT)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5943600" y="416052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+ relative power in delta · theta · alpha · beta · gamma bands · dominant frequency · spectral entropy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F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the signal ready for modelling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F3F6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21992"/>
            <a:ext cx="512064" cy="512064"/>
          </a:xfrm>
          <a:prstGeom prst="ellipse">
            <a:avLst/>
          </a:prstGeom>
          <a:solidFill>
            <a:srgbClr val="F3F6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097" y="2355129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17904" y="2176272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&amp; outlier checks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17904" y="2468880"/>
            <a:ext cx="3877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Inspecting raw signal for movement / electrode-contact noise before feature extraction.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26480" y="196596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F3F6FA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0" y="2221992"/>
            <a:ext cx="512064" cy="512064"/>
          </a:xfrm>
          <a:prstGeom prst="ellipse">
            <a:avLst/>
          </a:prstGeom>
          <a:solidFill>
            <a:srgbClr val="F3F6F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3937" y="2355129"/>
            <a:ext cx="245791" cy="2457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95744" y="2176272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095744" y="2468880"/>
            <a:ext cx="3877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raw signal values so amplitude differences don't dominate downstream models unfairly.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65760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F3F6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3913632"/>
            <a:ext cx="512064" cy="512064"/>
          </a:xfrm>
          <a:prstGeom prst="ellipse">
            <a:avLst/>
          </a:prstGeom>
          <a:solidFill>
            <a:srgbClr val="F3F6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097" y="4046769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17904" y="3867912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decomposition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517904" y="4160520"/>
            <a:ext cx="3877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FFT-based extraction of delta / theta / alpha / beta / gamma frequency band power.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26480" y="365760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F3F6FA"/>
          </a:solidFill>
          <a:ln/>
        </p:spPr>
      </p:sp>
      <p:sp>
        <p:nvSpPr>
          <p:cNvPr id="20" name="Shape 15"/>
          <p:cNvSpPr/>
          <p:nvPr/>
        </p:nvSpPr>
        <p:spPr>
          <a:xfrm>
            <a:off x="6400800" y="3913632"/>
            <a:ext cx="512064" cy="512064"/>
          </a:xfrm>
          <a:prstGeom prst="ellipse">
            <a:avLst/>
          </a:prstGeom>
          <a:solidFill>
            <a:srgbClr val="F3F6F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3937" y="4046769"/>
            <a:ext cx="245791" cy="24579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95744" y="3867912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095744" y="4160520"/>
            <a:ext cx="3877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seizure / non-seizure target, alongside the retained 5-class version.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F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look at the data</a:t>
            </a:r>
            <a:endParaRPr lang="en-US" sz="3000" dirty="0"/>
          </a:p>
        </p:txBody>
      </p:sp>
      <p:pic>
        <p:nvPicPr>
          <p:cNvPr id="4" name="Image 0" descr="/home/claude/plots/plot1_class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448056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08760"/>
            <a:ext cx="4480560" cy="3200400"/>
          </a:xfrm>
          <a:prstGeom prst="rect">
            <a:avLst/>
          </a:prstGeom>
          <a:ln w="12700">
            <a:solidFill>
              <a:srgbClr val="D8DEE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476402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Perfectly balanced — 2,300 samples in every class</a:t>
            </a:r>
            <a:endParaRPr lang="en-US" sz="1050" dirty="0"/>
          </a:p>
        </p:txBody>
      </p:sp>
      <p:pic>
        <p:nvPicPr>
          <p:cNvPr id="7" name="Image 1" descr="/home/claude/plots/plot2_raw_waveform_comparis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508760"/>
            <a:ext cx="6035040" cy="45262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577840" y="1508760"/>
            <a:ext cx="6035040" cy="4526280"/>
          </a:xfrm>
          <a:prstGeom prst="rect">
            <a:avLst/>
          </a:prstGeom>
          <a:ln w="12700">
            <a:solidFill>
              <a:srgbClr val="D8DEE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577840" y="608990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Seizure amplitude swings ~10–15× larger than non-seizure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48640" y="49377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class-imbalance correction needed — a clean, balanced benchmark.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F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Engineered features already separate the classes</a:t>
            </a:r>
            <a:endParaRPr lang="en-US" sz="3000" dirty="0"/>
          </a:p>
        </p:txBody>
      </p:sp>
      <p:pic>
        <p:nvPicPr>
          <p:cNvPr id="4" name="Image 0" descr="/home/claude/plots/plot3_feature_boxpl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766560" cy="3758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08760"/>
            <a:ext cx="6766560" cy="3758184"/>
          </a:xfrm>
          <a:prstGeom prst="rect">
            <a:avLst/>
          </a:prstGeom>
          <a:ln w="12700">
            <a:solidFill>
              <a:srgbClr val="D8DEE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532180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Variance, dominant frequency, and spectral entropy by class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001000" y="1737360"/>
            <a:ext cx="3108960" cy="1463040"/>
          </a:xfrm>
          <a:prstGeom prst="roundRect">
            <a:avLst>
              <a:gd name="adj" fmla="val 6250"/>
            </a:avLst>
          </a:prstGeom>
          <a:solidFill>
            <a:srgbClr val="F3F6FA"/>
          </a:solidFill>
          <a:ln/>
        </p:spPr>
      </p:sp>
      <p:sp>
        <p:nvSpPr>
          <p:cNvPr id="8" name="Text 5"/>
          <p:cNvSpPr/>
          <p:nvPr/>
        </p:nvSpPr>
        <p:spPr>
          <a:xfrm>
            <a:off x="8001000" y="18745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8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~38×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8001000" y="262432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median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in seizures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001000" y="3474720"/>
            <a:ext cx="3108960" cy="1463040"/>
          </a:xfrm>
          <a:prstGeom prst="roundRect">
            <a:avLst>
              <a:gd name="adj" fmla="val 6250"/>
            </a:avLst>
          </a:prstGeom>
          <a:solidFill>
            <a:srgbClr val="F3F6FA"/>
          </a:solidFill>
          <a:ln/>
        </p:spPr>
      </p:sp>
      <p:sp>
        <p:nvSpPr>
          <p:cNvPr id="11" name="Text 8"/>
          <p:cNvSpPr/>
          <p:nvPr/>
        </p:nvSpPr>
        <p:spPr>
          <a:xfrm>
            <a:off x="8001000" y="36118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8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Hz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8001000" y="43616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dominant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freq. (vs. 1 Hz)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F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entropy result that flipped an assumption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029200" cy="4480560"/>
          </a:xfrm>
          <a:prstGeom prst="roundRect">
            <a:avLst>
              <a:gd name="adj" fmla="val 2449"/>
            </a:avLst>
          </a:prstGeom>
          <a:solidFill>
            <a:srgbClr val="13406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90195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83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233172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seizure concentrates energy narrowly → should mean lower spectral entropy.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14400" y="3246120"/>
            <a:ext cx="4297680" cy="0"/>
          </a:xfrm>
          <a:prstGeom prst="line">
            <a:avLst/>
          </a:prstGeom>
          <a:noFill/>
          <a:ln w="12700">
            <a:solidFill>
              <a:srgbClr val="2A4A7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4400" y="342900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35478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3429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E1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914400" y="397764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is higher for seizures — median 3.36 vs. 3.01. Power is elevated AND spread across 0–20 Hz, not narrowly concentrated.</a:t>
            </a:r>
            <a:endParaRPr lang="en-US" sz="1300" dirty="0"/>
          </a:p>
        </p:txBody>
      </p:sp>
      <p:pic>
        <p:nvPicPr>
          <p:cNvPr id="14" name="Image 2" descr="/home/claude/plots/plot5_fft_power_spectru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691640"/>
            <a:ext cx="5669280" cy="35433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943600" y="1691640"/>
            <a:ext cx="5669280" cy="3543300"/>
          </a:xfrm>
          <a:prstGeom prst="rect">
            <a:avLst/>
          </a:prstGeom>
          <a:ln w="12700">
            <a:solidFill>
              <a:srgbClr val="D8DEE7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943600" y="54406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Seizure power towers over every other class across ~0–20 Hz — spread-out power means higher entropy, even with far more total energy.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F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engineered features overlap?</a:t>
            </a:r>
            <a:endParaRPr lang="en-US" sz="3000" dirty="0"/>
          </a:p>
        </p:txBody>
      </p:sp>
      <p:pic>
        <p:nvPicPr>
          <p:cNvPr id="4" name="Image 0" descr="/home/claude/plots/plot4_correlation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420624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63040"/>
            <a:ext cx="4206240" cy="4206240"/>
          </a:xfrm>
          <a:prstGeom prst="rect">
            <a:avLst/>
          </a:prstGeom>
          <a:ln w="12700">
            <a:solidFill>
              <a:srgbClr val="D8DEE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57241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across 16 engineered features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0" y="1737360"/>
            <a:ext cx="512064" cy="512064"/>
          </a:xfrm>
          <a:prstGeom prst="ellipse">
            <a:avLst/>
          </a:prstGeom>
          <a:solidFill>
            <a:srgbClr val="F3F6F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537" y="1870497"/>
            <a:ext cx="245791" cy="2457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81344" y="1691640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features cluster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181344" y="1984248"/>
            <a:ext cx="4974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dev, variance, peak-to-peak, RMS move together — different summaries of the same amplitude.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0" y="3154680"/>
            <a:ext cx="512064" cy="512064"/>
          </a:xfrm>
          <a:prstGeom prst="ellipse">
            <a:avLst/>
          </a:prstGeom>
          <a:solidFill>
            <a:srgbClr val="F3F6F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537" y="3287817"/>
            <a:ext cx="245791" cy="2457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81344" y="3108960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Frequency-band features cluster separately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6181344" y="3401568"/>
            <a:ext cx="4974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Beta, gamma, and dominant frequency form their own correlated group.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486400" y="4572000"/>
            <a:ext cx="512064" cy="512064"/>
          </a:xfrm>
          <a:prstGeom prst="ellipse">
            <a:avLst/>
          </a:prstGeom>
          <a:solidFill>
            <a:srgbClr val="F3F6FA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537" y="4705137"/>
            <a:ext cx="245791" cy="24579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81344" y="4526280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power runs opposite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181344" y="4818888"/>
            <a:ext cx="4974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power is a fixed budget across bands — more delta means proportionally less beta/gamma.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5486400" y="59436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signal for feature selection — several magnitude features may be redundant together.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F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Triage, not replacement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isn't to replace clinical judgment — it's to flag the small fraction of a long recording that actually deserves a clinician's attention.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12064" cy="512064"/>
          </a:xfrm>
          <a:prstGeom prst="ellipse">
            <a:avLst/>
          </a:prstGeom>
          <a:solidFill>
            <a:srgbClr val="1340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777" y="2464857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43584" y="2286000"/>
            <a:ext cx="972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real-time alerting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43584" y="2578608"/>
            <a:ext cx="9729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reliance on after-the-fact review of hours of recorded EEG.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611880"/>
            <a:ext cx="512064" cy="512064"/>
          </a:xfrm>
          <a:prstGeom prst="ellipse">
            <a:avLst/>
          </a:prstGeom>
          <a:solidFill>
            <a:srgbClr val="13406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777" y="3745017"/>
            <a:ext cx="245791" cy="2457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43584" y="3566160"/>
            <a:ext cx="972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inter-rater variability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243584" y="3858768"/>
            <a:ext cx="9729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consistent automated first pass, rather than relying on any one reviewer's judgment.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892040"/>
            <a:ext cx="512064" cy="512064"/>
          </a:xfrm>
          <a:prstGeom prst="ellipse">
            <a:avLst/>
          </a:prstGeom>
          <a:solidFill>
            <a:srgbClr val="13406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777" y="5025177"/>
            <a:ext cx="245791" cy="24579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43584" y="4846320"/>
            <a:ext cx="972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wearable / outpatient use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243584" y="5138928"/>
            <a:ext cx="9729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realistic option when no clinician is watching the signal live.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F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SO FAR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 built end-to-end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0F8B8B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" y="2194560"/>
            <a:ext cx="457200" cy="457200"/>
          </a:xfrm>
          <a:prstGeom prst="ellipse">
            <a:avLst/>
          </a:prstGeom>
          <a:solidFill>
            <a:srgbClr val="1623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31343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788920"/>
            <a:ext cx="2112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dataset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9808" y="3383280"/>
            <a:ext cx="21122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4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11,500 EEG samples sourced &amp; validated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063240" y="32461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319272" y="196596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0F8B8B"/>
          </a:solidFill>
          <a:ln/>
        </p:spPr>
      </p:sp>
      <p:sp>
        <p:nvSpPr>
          <p:cNvPr id="11" name="Shape 8"/>
          <p:cNvSpPr/>
          <p:nvPr/>
        </p:nvSpPr>
        <p:spPr>
          <a:xfrm>
            <a:off x="3538728" y="2194560"/>
            <a:ext cx="457200" cy="457200"/>
          </a:xfrm>
          <a:prstGeom prst="ellipse">
            <a:avLst/>
          </a:prstGeom>
          <a:solidFill>
            <a:srgbClr val="16233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31343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2788920"/>
            <a:ext cx="2112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520440" y="3383280"/>
            <a:ext cx="21122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4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21-feature engineered dataset built in Python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833872" y="32461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6089904" y="196596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0F8B8B"/>
          </a:solidFill>
          <a:ln/>
        </p:spPr>
      </p:sp>
      <p:sp>
        <p:nvSpPr>
          <p:cNvPr id="17" name="Shape 13"/>
          <p:cNvSpPr/>
          <p:nvPr/>
        </p:nvSpPr>
        <p:spPr>
          <a:xfrm>
            <a:off x="6309360" y="2194560"/>
            <a:ext cx="457200" cy="457200"/>
          </a:xfrm>
          <a:prstGeom prst="ellipse">
            <a:avLst/>
          </a:prstGeom>
          <a:solidFill>
            <a:srgbClr val="16233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2313432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91072" y="2788920"/>
            <a:ext cx="2112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291072" y="3383280"/>
            <a:ext cx="21122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4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visualizations built &amp; interpreted in R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604504" y="32461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8860536" y="196596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0F8B8B"/>
          </a:solidFill>
          <a:ln/>
        </p:spPr>
      </p:sp>
      <p:sp>
        <p:nvSpPr>
          <p:cNvPr id="23" name="Shape 18"/>
          <p:cNvSpPr/>
          <p:nvPr/>
        </p:nvSpPr>
        <p:spPr>
          <a:xfrm>
            <a:off x="9079992" y="2194560"/>
            <a:ext cx="457200" cy="457200"/>
          </a:xfrm>
          <a:prstGeom prst="ellipse">
            <a:avLst/>
          </a:prstGeom>
          <a:solidFill>
            <a:srgbClr val="16233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4" y="2313432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061704" y="2788920"/>
            <a:ext cx="2112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documented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9061704" y="3383280"/>
            <a:ext cx="21122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4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Write-up with verified literature grounding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F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analysis to a working detector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F3F6F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71907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5819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58191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the engineered feature set using the redundancy patterns already found.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167128"/>
            <a:ext cx="10515600" cy="0"/>
          </a:xfrm>
          <a:prstGeom prst="line">
            <a:avLst/>
          </a:prstGeom>
          <a:noFill/>
          <a:ln w="12700">
            <a:solidFill>
              <a:srgbClr val="E5E9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532888"/>
            <a:ext cx="457200" cy="457200"/>
          </a:xfrm>
          <a:prstGeom prst="ellipse">
            <a:avLst/>
          </a:prstGeom>
          <a:solidFill>
            <a:srgbClr val="F3F6F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651760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70432" y="2514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connectivity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160520" y="25146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pipeline onto a proper database backend for retrieval at scale.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099816"/>
            <a:ext cx="10515600" cy="0"/>
          </a:xfrm>
          <a:prstGeom prst="line">
            <a:avLst/>
          </a:prstGeom>
          <a:noFill/>
          <a:ln w="12700">
            <a:solidFill>
              <a:srgbClr val="E5E9E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8640" y="3465576"/>
            <a:ext cx="457200" cy="457200"/>
          </a:xfrm>
          <a:prstGeom prst="ellipse">
            <a:avLst/>
          </a:prstGeom>
          <a:solidFill>
            <a:srgbClr val="F3F6F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584448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70432" y="34472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4160520" y="344728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compare classical ML and deep learning models side by side.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4032504"/>
            <a:ext cx="10515600" cy="0"/>
          </a:xfrm>
          <a:prstGeom prst="line">
            <a:avLst/>
          </a:prstGeom>
          <a:noFill/>
          <a:ln w="12700">
            <a:solidFill>
              <a:srgbClr val="E5E9E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48640" y="4398264"/>
            <a:ext cx="457200" cy="457200"/>
          </a:xfrm>
          <a:prstGeom prst="ellipse">
            <a:avLst/>
          </a:prstGeom>
          <a:solidFill>
            <a:srgbClr val="F3F6F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517136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70432" y="437997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4160520" y="437997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the strongest candidate models for real performance gains.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48640" y="4965192"/>
            <a:ext cx="10515600" cy="0"/>
          </a:xfrm>
          <a:prstGeom prst="line">
            <a:avLst/>
          </a:prstGeom>
          <a:noFill/>
          <a:ln w="12700">
            <a:solidFill>
              <a:srgbClr val="E5E9E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48640" y="5330952"/>
            <a:ext cx="457200" cy="457200"/>
          </a:xfrm>
          <a:prstGeom prst="ellipse">
            <a:avLst/>
          </a:prstGeom>
          <a:solidFill>
            <a:srgbClr val="F3F6F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5449824"/>
            <a:ext cx="21945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70432" y="531266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evaluation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4160520" y="53126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curves, confusion matrices, precision-recall, and feature importance.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5029200" cy="5029200"/>
          </a:xfrm>
          <a:prstGeom prst="ellipse">
            <a:avLst/>
          </a:prstGeom>
          <a:solidFill>
            <a:srgbClr val="13406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13406B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730088" y="1965960"/>
            <a:ext cx="731520" cy="731520"/>
          </a:xfrm>
          <a:prstGeom prst="ellipse">
            <a:avLst/>
          </a:prstGeom>
          <a:solidFill>
            <a:srgbClr val="13406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0283" y="2156155"/>
            <a:ext cx="351130" cy="3511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88036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0" y="37033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Epileptic Seizure Detection from EEG Signals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2026-08-06T19:20:05Z</dcterms:created>
  <dcterms:modified xsi:type="dcterms:W3CDTF">2026-08-06T19:20:05Z</dcterms:modified>
</cp:coreProperties>
</file>